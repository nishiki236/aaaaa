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ECB349-1FC5-418E-8E61-03A492885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89DA61-3082-427F-9CE5-F4E6C5A22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964BF0-4F23-489A-BABC-5B89CEA5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66D79D-C4F0-4D1A-BC88-CE103D57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2BA0BB-8997-4660-96AA-A2685C1C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82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5313E6-C1D6-44AF-B7E4-AF046284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6D2928-D58B-4FF9-A603-E2EED041A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9EED53-5D96-4F8A-A364-C4093035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9F8511-59C9-44AC-B38B-8D902AC7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B5760B-5FD7-4288-8CE2-BA832D7A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46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9431A7-6F2B-4671-9514-4A3AC40A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A7F45B-EB1F-4486-B676-0C3DE1624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D897B7-2436-4FB2-82AB-6E00D754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809D1C-0DB5-46B0-8BB2-ADC7B61ED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7939D1-A5C0-49D3-BDCC-C9CA2E90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728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C6AD4-BE29-4AA9-AA55-E1030197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C6765A-4541-457C-A43A-95AB74C5E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E5D06E-3EE4-4EFC-94D1-F09AAB6FA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0D2EE4-EC66-4B92-8858-BBA17F2F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A781AE-87C6-455A-B60F-DDDB55F16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D18AAE-3940-4A68-B15E-8B3428CD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35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5E83C-B0AF-4EA1-9600-53B1DEC8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2D7229-3E64-4543-B3BD-54BFE6B86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E7552E-A650-464F-8BC1-E7F33E806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1499BA-C2C9-4A5D-84BD-BF03A43CB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1AB805F-E31B-45F0-A395-322F205B3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72A4E5B-D75A-4E46-B7A8-59A4D97C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49E759-92F1-49F4-BE0F-C783BC65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F09E1B-9082-4E98-A7EF-F426BF35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74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1646BA-8EDB-45D0-9F10-14A7D843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3566FA-95AE-497B-A774-FE63D96C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D88AE3-DEE1-406D-821E-D122DEA8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8B4AC8-43CE-4BFB-B1A3-DCCDC107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47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877FC1D-C964-4D3B-A029-A5CCCDAD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D42670-E192-4711-B0E3-08AEC963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B15937-BB68-4D56-A99A-8C78E1DD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93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3A41C2-84CC-4846-BDC9-76ABFEBD3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C5D06A-5082-47F4-B8BF-770F6299A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7D4350-55B8-4E10-B43B-D8DAEA2E6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07EF72-9C1A-46C0-B52D-9C302EBE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A6BEAE-C7E6-4979-826D-83ADC2C7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9BBBC4-30C7-40E4-B57C-CB7C2537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37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14EBE9-F0E2-423F-B544-D9ECC01A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96F7023-B52C-4963-9AE8-D87700239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F993CE-051C-44B3-8BC1-DE537BE18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29897D-F120-42DB-9C44-2BAFA041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5ABD6B-30E2-41BF-9C4F-2631CC65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763EF3-D73F-4A44-A900-10BA6BBC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84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7B9DE0-CB16-43D8-B169-FF2D5359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3D8F87-DEEE-427D-93DD-508E2926C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420CC3-96A4-42D4-B872-3DC89C7E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89CEE0-48CD-4098-8D94-94B5AD20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3F3F3C-45AA-4EE0-91ED-9A9B875F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82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620605-6345-4B72-9A25-EA45E00D4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CAD6E3-EE11-41FB-B32B-1F3A3A331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6B65C5-770C-4DD8-9D69-7D9387B0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DF500F-4379-44E0-89DC-C5FF07A9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F45E8F-6353-4FBA-8E52-A032318F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0577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5392F8F-63E3-4115-B0C1-73885145B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87E0E0-F58B-4885-9BD7-D450B8A7D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083843-3424-4685-8F2D-A253626EE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540EF-FB79-41BA-BDE5-16A9CE4D30F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9A827-9400-4C9A-A430-AA3D40026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EEA5BD-F04E-48F6-97AE-99CB7A326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0189C-D387-4F2A-8009-9341E71DDC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223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楕円 5">
            <a:extLst>
              <a:ext uri="{FF2B5EF4-FFF2-40B4-BE49-F238E27FC236}">
                <a16:creationId xmlns:a16="http://schemas.microsoft.com/office/drawing/2014/main" id="{7392297A-4F03-406B-B7C0-6C5191C9D10E}"/>
              </a:ext>
            </a:extLst>
          </p:cNvPr>
          <p:cNvSpPr/>
          <p:nvPr/>
        </p:nvSpPr>
        <p:spPr>
          <a:xfrm>
            <a:off x="1381539" y="75942"/>
            <a:ext cx="1390651" cy="61264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A5ABBE2-987D-4E90-BF00-C548B1869BEA}"/>
              </a:ext>
            </a:extLst>
          </p:cNvPr>
          <p:cNvSpPr/>
          <p:nvPr/>
        </p:nvSpPr>
        <p:spPr>
          <a:xfrm>
            <a:off x="3548062" y="1801078"/>
            <a:ext cx="1866900" cy="789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D=b*b-4*a*c</a:t>
            </a:r>
            <a:endParaRPr kumimoji="1" lang="ja-JP" altLang="en-US" dirty="0"/>
          </a:p>
        </p:txBody>
      </p:sp>
      <p:sp>
        <p:nvSpPr>
          <p:cNvPr id="8" name="フローチャート: データ 7">
            <a:extLst>
              <a:ext uri="{FF2B5EF4-FFF2-40B4-BE49-F238E27FC236}">
                <a16:creationId xmlns:a16="http://schemas.microsoft.com/office/drawing/2014/main" id="{CEF47912-5CDB-49C7-88B5-D3FB73DA91BC}"/>
              </a:ext>
            </a:extLst>
          </p:cNvPr>
          <p:cNvSpPr/>
          <p:nvPr/>
        </p:nvSpPr>
        <p:spPr>
          <a:xfrm>
            <a:off x="3281965" y="1040935"/>
            <a:ext cx="2399095" cy="41639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Input </a:t>
            </a:r>
            <a:r>
              <a:rPr kumimoji="1" lang="en-US" altLang="ja-JP" dirty="0" err="1"/>
              <a:t>a,b,c</a:t>
            </a:r>
            <a:endParaRPr kumimoji="1" lang="ja-JP" altLang="en-US" dirty="0"/>
          </a:p>
        </p:txBody>
      </p:sp>
      <p:sp>
        <p:nvSpPr>
          <p:cNvPr id="9" name="フローチャート: 判断 8">
            <a:extLst>
              <a:ext uri="{FF2B5EF4-FFF2-40B4-BE49-F238E27FC236}">
                <a16:creationId xmlns:a16="http://schemas.microsoft.com/office/drawing/2014/main" id="{7CC7BC72-0D5B-44B1-AF23-621B38BEB489}"/>
              </a:ext>
            </a:extLst>
          </p:cNvPr>
          <p:cNvSpPr/>
          <p:nvPr/>
        </p:nvSpPr>
        <p:spPr>
          <a:xfrm>
            <a:off x="3755230" y="2839303"/>
            <a:ext cx="1452563" cy="612648"/>
          </a:xfrm>
          <a:prstGeom prst="flowChartDecision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D&gt;0</a:t>
            </a:r>
            <a:endParaRPr kumimoji="1" lang="ja-JP" altLang="en-US" dirty="0"/>
          </a:p>
        </p:txBody>
      </p:sp>
      <p:sp>
        <p:nvSpPr>
          <p:cNvPr id="10" name="フローチャート: データ 9">
            <a:extLst>
              <a:ext uri="{FF2B5EF4-FFF2-40B4-BE49-F238E27FC236}">
                <a16:creationId xmlns:a16="http://schemas.microsoft.com/office/drawing/2014/main" id="{50A58332-69F4-46F8-9107-16C7B94C2F16}"/>
              </a:ext>
            </a:extLst>
          </p:cNvPr>
          <p:cNvSpPr/>
          <p:nvPr/>
        </p:nvSpPr>
        <p:spPr>
          <a:xfrm>
            <a:off x="7863490" y="2696035"/>
            <a:ext cx="2642585" cy="89918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Display</a:t>
            </a:r>
          </a:p>
          <a:p>
            <a:pPr algn="ctr"/>
            <a:r>
              <a:rPr lang="en-US" altLang="ja-JP" dirty="0"/>
              <a:t>“</a:t>
            </a:r>
            <a:r>
              <a:rPr lang="ja-JP" altLang="en-US" dirty="0"/>
              <a:t>重解を持つ</a:t>
            </a:r>
            <a:r>
              <a:rPr lang="en-US" altLang="ja-JP" dirty="0"/>
              <a:t>”</a:t>
            </a:r>
            <a:endParaRPr kumimoji="1" lang="ja-JP" altLang="en-US" dirty="0"/>
          </a:p>
        </p:txBody>
      </p:sp>
      <p:sp>
        <p:nvSpPr>
          <p:cNvPr id="11" name="フローチャート: データ 10">
            <a:extLst>
              <a:ext uri="{FF2B5EF4-FFF2-40B4-BE49-F238E27FC236}">
                <a16:creationId xmlns:a16="http://schemas.microsoft.com/office/drawing/2014/main" id="{52DB3EFF-1AC6-42A1-9349-AC626E51172E}"/>
              </a:ext>
            </a:extLst>
          </p:cNvPr>
          <p:cNvSpPr/>
          <p:nvPr/>
        </p:nvSpPr>
        <p:spPr>
          <a:xfrm>
            <a:off x="3755230" y="3934500"/>
            <a:ext cx="3004535" cy="825112"/>
          </a:xfrm>
          <a:prstGeom prst="flowChartInputOutp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Display</a:t>
            </a:r>
          </a:p>
          <a:p>
            <a:pPr algn="ctr"/>
            <a:r>
              <a:rPr lang="en-US" altLang="ja-JP" dirty="0"/>
              <a:t>“</a:t>
            </a:r>
            <a:r>
              <a:rPr lang="ja-JP" altLang="en-US" dirty="0"/>
              <a:t>虚数解をもつ</a:t>
            </a:r>
            <a:r>
              <a:rPr lang="en-US" altLang="ja-JP" dirty="0"/>
              <a:t>”</a:t>
            </a:r>
            <a:endParaRPr kumimoji="1" lang="ja-JP" altLang="en-US" dirty="0"/>
          </a:p>
        </p:txBody>
      </p:sp>
      <p:sp>
        <p:nvSpPr>
          <p:cNvPr id="13" name="フローチャート: データ 12">
            <a:extLst>
              <a:ext uri="{FF2B5EF4-FFF2-40B4-BE49-F238E27FC236}">
                <a16:creationId xmlns:a16="http://schemas.microsoft.com/office/drawing/2014/main" id="{0000B43F-2D61-43C2-AAEA-8F3855B23D36}"/>
              </a:ext>
            </a:extLst>
          </p:cNvPr>
          <p:cNvSpPr/>
          <p:nvPr/>
        </p:nvSpPr>
        <p:spPr>
          <a:xfrm>
            <a:off x="461357" y="2590800"/>
            <a:ext cx="2567592" cy="111171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Display</a:t>
            </a:r>
          </a:p>
          <a:p>
            <a:pPr algn="ctr"/>
            <a:r>
              <a:rPr kumimoji="1" lang="en-US" altLang="ja-JP" dirty="0"/>
              <a:t>“</a:t>
            </a:r>
            <a:r>
              <a:rPr kumimoji="1" lang="ja-JP" altLang="en-US" dirty="0"/>
              <a:t>異なる</a:t>
            </a:r>
            <a:r>
              <a:rPr kumimoji="1" lang="en-US" altLang="ja-JP" dirty="0"/>
              <a:t>2</a:t>
            </a:r>
            <a:r>
              <a:rPr kumimoji="1" lang="ja-JP" altLang="en-US" dirty="0"/>
              <a:t>つの実数解をもつ</a:t>
            </a:r>
            <a:r>
              <a:rPr kumimoji="1" lang="en-US" altLang="ja-JP" dirty="0"/>
              <a:t>”</a:t>
            </a:r>
            <a:endParaRPr kumimoji="1" lang="ja-JP" altLang="en-US" dirty="0"/>
          </a:p>
        </p:txBody>
      </p:sp>
      <p:sp>
        <p:nvSpPr>
          <p:cNvPr id="14" name="フローチャート: 判断 13">
            <a:extLst>
              <a:ext uri="{FF2B5EF4-FFF2-40B4-BE49-F238E27FC236}">
                <a16:creationId xmlns:a16="http://schemas.microsoft.com/office/drawing/2014/main" id="{ABAB4E46-277D-4014-B85C-45D632D27B15}"/>
              </a:ext>
            </a:extLst>
          </p:cNvPr>
          <p:cNvSpPr/>
          <p:nvPr/>
        </p:nvSpPr>
        <p:spPr>
          <a:xfrm>
            <a:off x="5809360" y="2828254"/>
            <a:ext cx="1452563" cy="612648"/>
          </a:xfrm>
          <a:prstGeom prst="flowChartDecision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D=0</a:t>
            </a:r>
            <a:endParaRPr kumimoji="1" lang="ja-JP" altLang="en-US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06E6A1E-5D6C-4489-AFEF-3EB593EC02D2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2772190" y="382267"/>
            <a:ext cx="8779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74CCAE6-AEAC-47B7-B90C-E87060B18A01}"/>
              </a:ext>
            </a:extLst>
          </p:cNvPr>
          <p:cNvCxnSpPr>
            <a:stCxn id="8" idx="4"/>
            <a:endCxn id="7" idx="0"/>
          </p:cNvCxnSpPr>
          <p:nvPr/>
        </p:nvCxnSpPr>
        <p:spPr>
          <a:xfrm flipH="1">
            <a:off x="4481512" y="1457325"/>
            <a:ext cx="1" cy="343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E9E5B9D-8800-489F-99C1-220CE4DFC46D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4481512" y="2590800"/>
            <a:ext cx="0" cy="24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DD9FA2E7-6B42-477B-B9E5-172471B377C6}"/>
              </a:ext>
            </a:extLst>
          </p:cNvPr>
          <p:cNvCxnSpPr>
            <a:cxnSpLocks/>
            <a:stCxn id="9" idx="1"/>
            <a:endCxn id="13" idx="5"/>
          </p:cNvCxnSpPr>
          <p:nvPr/>
        </p:nvCxnSpPr>
        <p:spPr>
          <a:xfrm flipH="1">
            <a:off x="2772190" y="3145627"/>
            <a:ext cx="983040" cy="1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04B5D6B5-6869-4B14-80D2-B07F4331874D}"/>
              </a:ext>
            </a:extLst>
          </p:cNvPr>
          <p:cNvCxnSpPr>
            <a:stCxn id="9" idx="3"/>
            <a:endCxn id="14" idx="1"/>
          </p:cNvCxnSpPr>
          <p:nvPr/>
        </p:nvCxnSpPr>
        <p:spPr>
          <a:xfrm flipV="1">
            <a:off x="5207793" y="3134578"/>
            <a:ext cx="601567" cy="11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808B28F-42E9-40E0-83E1-39308C3E999A}"/>
              </a:ext>
            </a:extLst>
          </p:cNvPr>
          <p:cNvCxnSpPr>
            <a:stCxn id="14" idx="3"/>
            <a:endCxn id="10" idx="2"/>
          </p:cNvCxnSpPr>
          <p:nvPr/>
        </p:nvCxnSpPr>
        <p:spPr>
          <a:xfrm>
            <a:off x="7261923" y="3134578"/>
            <a:ext cx="865826" cy="11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D3C277A2-061F-4F62-8148-396B3910838E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557951" y="3488224"/>
            <a:ext cx="977694" cy="446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フローチャート: 端子 37">
            <a:extLst>
              <a:ext uri="{FF2B5EF4-FFF2-40B4-BE49-F238E27FC236}">
                <a16:creationId xmlns:a16="http://schemas.microsoft.com/office/drawing/2014/main" id="{7BE18DAF-434A-48AB-AD40-852C13F11654}"/>
              </a:ext>
            </a:extLst>
          </p:cNvPr>
          <p:cNvSpPr/>
          <p:nvPr/>
        </p:nvSpPr>
        <p:spPr>
          <a:xfrm>
            <a:off x="4100509" y="5817064"/>
            <a:ext cx="1457441" cy="602785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26F631EB-0B1B-432C-BB40-E02398F01E1C}"/>
              </a:ext>
            </a:extLst>
          </p:cNvPr>
          <p:cNvCxnSpPr>
            <a:cxnSpLocks/>
            <a:stCxn id="13" idx="3"/>
            <a:endCxn id="38" idx="0"/>
          </p:cNvCxnSpPr>
          <p:nvPr/>
        </p:nvCxnSpPr>
        <p:spPr>
          <a:xfrm>
            <a:off x="1488394" y="3702515"/>
            <a:ext cx="3340836" cy="2114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5A844541-1853-4418-A483-A300F5A1ABE3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4829230" y="3700454"/>
            <a:ext cx="4355552" cy="2116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36434EF4-11A3-4154-AD41-0B3DBFFCE804}"/>
              </a:ext>
            </a:extLst>
          </p:cNvPr>
          <p:cNvCxnSpPr>
            <a:cxnSpLocks/>
            <a:stCxn id="11" idx="3"/>
            <a:endCxn id="38" idx="0"/>
          </p:cNvCxnSpPr>
          <p:nvPr/>
        </p:nvCxnSpPr>
        <p:spPr>
          <a:xfrm flipH="1">
            <a:off x="4829230" y="4759612"/>
            <a:ext cx="127814" cy="1057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FED1BE0-BF8C-4354-BF36-C74F32A1C3D3}"/>
              </a:ext>
            </a:extLst>
          </p:cNvPr>
          <p:cNvSpPr txBox="1"/>
          <p:nvPr/>
        </p:nvSpPr>
        <p:spPr>
          <a:xfrm>
            <a:off x="2535418" y="4459843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No</a:t>
            </a:r>
            <a:endParaRPr kumimoji="1" lang="en-US" altLang="ja-JP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43D6282F-F03F-4F49-A8DB-AC6942B338D2}"/>
              </a:ext>
            </a:extLst>
          </p:cNvPr>
          <p:cNvSpPr txBox="1"/>
          <p:nvPr/>
        </p:nvSpPr>
        <p:spPr>
          <a:xfrm>
            <a:off x="7018106" y="4459843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No</a:t>
            </a:r>
            <a:endParaRPr kumimoji="1" lang="en-US" altLang="ja-JP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8C3CAF5-7A96-4E86-8F13-99368FD08E04}"/>
              </a:ext>
            </a:extLst>
          </p:cNvPr>
          <p:cNvSpPr txBox="1"/>
          <p:nvPr/>
        </p:nvSpPr>
        <p:spPr>
          <a:xfrm>
            <a:off x="3023052" y="29619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0505B5A-5B60-495B-BB2C-9E7E1F89CB16}"/>
              </a:ext>
            </a:extLst>
          </p:cNvPr>
          <p:cNvSpPr txBox="1"/>
          <p:nvPr/>
        </p:nvSpPr>
        <p:spPr>
          <a:xfrm>
            <a:off x="7284485" y="294991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</a:p>
        </p:txBody>
      </p:sp>
      <p:sp>
        <p:nvSpPr>
          <p:cNvPr id="60" name="フローチャート: データ 59">
            <a:extLst>
              <a:ext uri="{FF2B5EF4-FFF2-40B4-BE49-F238E27FC236}">
                <a16:creationId xmlns:a16="http://schemas.microsoft.com/office/drawing/2014/main" id="{F0CAE63A-6C9F-46D9-B66E-3E77FC0F85DC}"/>
              </a:ext>
            </a:extLst>
          </p:cNvPr>
          <p:cNvSpPr/>
          <p:nvPr/>
        </p:nvSpPr>
        <p:spPr>
          <a:xfrm>
            <a:off x="3410265" y="11049"/>
            <a:ext cx="2399095" cy="74243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Display 3 numbers</a:t>
            </a:r>
            <a:endParaRPr kumimoji="1" lang="ja-JP" altLang="en-US" dirty="0"/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B234A788-67BC-4650-87D8-58AAF54ECACF}"/>
              </a:ext>
            </a:extLst>
          </p:cNvPr>
          <p:cNvCxnSpPr/>
          <p:nvPr/>
        </p:nvCxnSpPr>
        <p:spPr>
          <a:xfrm flipH="1">
            <a:off x="4481511" y="790445"/>
            <a:ext cx="1" cy="343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71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</Words>
  <Application>Microsoft Office PowerPoint</Application>
  <PresentationFormat>ワイド画面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24516003</dc:creator>
  <cp:lastModifiedBy>24516003</cp:lastModifiedBy>
  <cp:revision>3</cp:revision>
  <dcterms:created xsi:type="dcterms:W3CDTF">2025-11-07T09:42:36Z</dcterms:created>
  <dcterms:modified xsi:type="dcterms:W3CDTF">2025-11-07T09:54:00Z</dcterms:modified>
</cp:coreProperties>
</file>